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charts/chart2.xml" ContentType="application/vnd.openxmlformats-officedocument.drawingml.chart+xml"/>
  <Override PartName="/ppt/notesSlides/notesSlide12.xml" ContentType="application/vnd.openxmlformats-officedocument.presentationml.notesSlide+xml"/>
  <Override PartName="/ppt/charts/chart3.xml" ContentType="application/vnd.openxmlformats-officedocument.drawingml.chart+xml"/>
  <Override PartName="/ppt/notesSlides/notesSlide13.xml" ContentType="application/vnd.openxmlformats-officedocument.presentationml.notesSlide+xml"/>
  <Override PartName="/ppt/charts/chart4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8"/>
    <p:restoredTop sz="94610"/>
  </p:normalViewPr>
  <p:slideViewPr>
    <p:cSldViewPr snapToGrid="0" snapToObjects="1">
      <p:cViewPr>
        <p:scale>
          <a:sx n="133" d="100"/>
          <a:sy n="133" d="100"/>
        </p:scale>
        <p:origin x="1064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2A43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0F2A43"/>
                </a:solidFill>
                <a:latin typeface="Calibri"/>
              </a:rPr>
              <a:t>Issue type: Macro F1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Macro F1</c:v>
                </c:pt>
              </c:strCache>
            </c:strRef>
          </c:tx>
          <c:spPr>
            <a:solidFill>
              <a:srgbClr val="14A3A0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F2D3D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Random split</c:v>
                </c:pt>
                <c:pt idx="1">
                  <c:v>Unseen messages (5-fold)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0.60499999999999998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80-4094-BB3F-47624542F74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D3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6350" cap="flat">
              <a:solidFill>
                <a:srgbClr val="DDE3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2A43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0F2A43"/>
                </a:solidFill>
                <a:latin typeface="Calibri"/>
              </a:rPr>
              <a:t>Macro F1 by model (20,000 test tickets)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Macro F1</c:v>
                </c:pt>
              </c:strCache>
            </c:strRef>
          </c:tx>
          <c:spPr>
            <a:solidFill>
              <a:srgbClr val="14A3A0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F2D3D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Baseline (most frequent)</c:v>
                </c:pt>
                <c:pt idx="1">
                  <c:v>Random Forest (text + meta)</c:v>
                </c:pt>
                <c:pt idx="2">
                  <c:v>LogReg (text + meta)</c:v>
                </c:pt>
                <c:pt idx="3">
                  <c:v>LinearSVC (text + meta)</c:v>
                </c:pt>
                <c:pt idx="4">
                  <c:v>LogReg (text)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3.5999999999999997E-2</c:v>
                </c:pt>
                <c:pt idx="1">
                  <c:v>0.57399999999999995</c:v>
                </c:pt>
                <c:pt idx="2">
                  <c:v>0.57499999999999996</c:v>
                </c:pt>
                <c:pt idx="3">
                  <c:v>0.57499999999999996</c:v>
                </c:pt>
                <c:pt idx="4">
                  <c:v>0.57999999999999996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F9-4F06-8A34-282146EF3B2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D3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b"/>
        <c:majorGridlines>
          <c:spPr>
            <a:ln w="6350" cap="flat">
              <a:solidFill>
                <a:srgbClr val="DDE3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2A43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0F2A43"/>
                </a:solidFill>
                <a:latin typeface="Calibri"/>
              </a:rPr>
              <a:t>Macro F1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TF-IDF + LogReg</c:v>
                </c:pt>
              </c:strCache>
            </c:strRef>
          </c:tx>
          <c:spPr>
            <a:solidFill>
              <a:srgbClr val="14A3A0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F2D3D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Issue type: random</c:v>
                </c:pt>
                <c:pt idx="1">
                  <c:v>Issue type: unseen</c:v>
                </c:pt>
                <c:pt idx="2">
                  <c:v>Routing: random</c:v>
                </c:pt>
                <c:pt idx="3">
                  <c:v>Routing: unseen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0.629</c:v>
                </c:pt>
                <c:pt idx="2">
                  <c:v>0.59</c:v>
                </c:pt>
                <c:pt idx="3">
                  <c:v>0.66200000000000003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FC8-4021-A3BD-95700200AAC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BERT + LogReg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F2D3D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Issue type: random</c:v>
                </c:pt>
                <c:pt idx="1">
                  <c:v>Issue type: unseen</c:v>
                </c:pt>
                <c:pt idx="2">
                  <c:v>Routing: random</c:v>
                </c:pt>
                <c:pt idx="3">
                  <c:v>Routing: unseen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</c:v>
                </c:pt>
                <c:pt idx="1">
                  <c:v>0.629</c:v>
                </c:pt>
                <c:pt idx="2">
                  <c:v>0.57999999999999996</c:v>
                </c:pt>
                <c:pt idx="3">
                  <c:v>0.63400000000000001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FC8-4021-A3BD-95700200AAC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D3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6350" cap="flat">
              <a:solidFill>
                <a:srgbClr val="DDE3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F2D3D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2A43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0F2A43"/>
                </a:solidFill>
                <a:latin typeface="Calibri"/>
              </a:rPr>
              <a:t>Test MAE (hours), lower is better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 (hours)</c:v>
                </c:pt>
              </c:strCache>
            </c:strRef>
          </c:tx>
          <c:spPr>
            <a:solidFill>
              <a:srgbClr val="0F2A43"/>
            </a:solidFill>
            <a:effectLst/>
          </c:spPr>
          <c:invertIfNegative val="0"/>
          <c:dLbls>
            <c:dLbl>
              <c:idx val="3"/>
              <c:tx>
                <c:rich>
                  <a:bodyPr/>
                  <a:lstStyle/>
                  <a:p>
                    <a:r>
                      <a:rPr lang="en-US"/>
                      <a:t>15.27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B3AD-B049-BA1D-A1101893EBFC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 dirty="0"/>
                      <a:t>15.17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68C9-4F04-B7D0-4E9253368EF9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F2D3D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Random Forest (default)</c:v>
                </c:pt>
                <c:pt idx="1">
                  <c:v>Neural Network (MLP)</c:v>
                </c:pt>
                <c:pt idx="2">
                  <c:v>Random Forest (log)</c:v>
                </c:pt>
                <c:pt idx="3">
                  <c:v>XGBoost</c:v>
                </c:pt>
                <c:pt idx="4">
                  <c:v>LightGBM</c:v>
                </c:pt>
                <c:pt idx="5">
                  <c:v>CatBoost</c:v>
                </c:pt>
                <c:pt idx="6">
                  <c:v>Gradient Boosting</c:v>
                </c:pt>
                <c:pt idx="7">
                  <c:v>HistGradientBoosting</c:v>
                </c:pt>
                <c:pt idx="8">
                  <c:v>Baseline (median)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15.75</c:v>
                </c:pt>
                <c:pt idx="1">
                  <c:v>15.5</c:v>
                </c:pt>
                <c:pt idx="2">
                  <c:v>15.31</c:v>
                </c:pt>
                <c:pt idx="3">
                  <c:v>15.27</c:v>
                </c:pt>
                <c:pt idx="4">
                  <c:v>15.26</c:v>
                </c:pt>
                <c:pt idx="5">
                  <c:v>15.21</c:v>
                </c:pt>
                <c:pt idx="6">
                  <c:v>15.18</c:v>
                </c:pt>
                <c:pt idx="7">
                  <c:v>15.18</c:v>
                </c:pt>
                <c:pt idx="8">
                  <c:v>15.17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7A8-46E8-829A-0D4693EE922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D3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9"/>
          <c:min val="0"/>
        </c:scaling>
        <c:delete val="0"/>
        <c:axPos val="b"/>
        <c:majorGridlines>
          <c:spPr>
            <a:ln w="6350" cap="flat">
              <a:solidFill>
                <a:srgbClr val="DDE3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6158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/>
          <p:cNvSpPr txBox="1"/>
          <p:nvPr/>
        </p:nvSpPr>
        <p:spPr>
          <a:xfrm>
            <a:off x="457200" y="15087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DESK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3172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Intelligent System for Automated IT Support Ticket Analysis, NLP Classification, Team Routing, Resolution Time Prediction, and Anomaly Detection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794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By: Alhanouf Abdullah Alobaid  ·  Sara Mohammed Alshahrani  ·  Raghad Suliman Albalawi  ·  Wojood Turki Almalki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Saudi Digital Academy  ·  WCD Data Science Bootcamp  ·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4663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389888"/>
            <a:ext cx="457200" cy="457200"/>
          </a:xfrm>
          <a:prstGeom prst="ellipse">
            <a:avLst/>
          </a:prstGeom>
          <a:solidFill>
            <a:srgbClr val="14A3A0"/>
          </a:solidFill>
          <a:ln w="12700">
            <a:solidFill>
              <a:srgbClr val="14A3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640080" y="1389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2801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sorting is slow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60020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IT tickets must be classified and routed by hand.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4663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40080" y="2532888"/>
            <a:ext cx="457200" cy="457200"/>
          </a:xfrm>
          <a:prstGeom prst="ellipse">
            <a:avLst/>
          </a:prstGeom>
          <a:solidFill>
            <a:srgbClr val="14A3A0"/>
          </a:solidFill>
          <a:ln w="12700">
            <a:solidFill>
              <a:srgbClr val="14A3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640080" y="2532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4231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are delayed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74320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wait while tickets sit in the wrong queue.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4663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0080" y="3675888"/>
            <a:ext cx="457200" cy="457200"/>
          </a:xfrm>
          <a:prstGeom prst="ellipse">
            <a:avLst/>
          </a:prstGeom>
          <a:solidFill>
            <a:srgbClr val="14A3A0"/>
          </a:solidFill>
          <a:ln w="12700">
            <a:solidFill>
              <a:srgbClr val="14A3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640080" y="3675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5661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 get breached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388620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or misrouted tickets break service-level agreements.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394960" y="1143000"/>
            <a:ext cx="3291840" cy="3246120"/>
          </a:xfrm>
          <a:prstGeom prst="roundRect">
            <a:avLst>
              <a:gd name="adj" fmla="val 2254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5623560" y="1325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QUESTION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23560" y="1691640"/>
            <a:ext cx="2834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can organizations use NLP to classify issues, route tickets to the right team, predict resolution times, and detect anomalous ticket surges before they disrupt business?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&amp; Scope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234440"/>
            <a:ext cx="411480" cy="411480"/>
          </a:xfrm>
          <a:prstGeom prst="ellipse">
            <a:avLst/>
          </a:prstGeom>
          <a:solidFill>
            <a:srgbClr val="14A3A0"/>
          </a:solidFill>
          <a:ln w="12700">
            <a:solidFill>
              <a:srgbClr val="14A3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59436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7373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and analyze historical ticket data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383280" y="1234440"/>
            <a:ext cx="411480" cy="411480"/>
          </a:xfrm>
          <a:prstGeom prst="ellipse">
            <a:avLst/>
          </a:prstGeom>
          <a:solidFill>
            <a:srgbClr val="14A3A0"/>
          </a:solidFill>
          <a:ln w="12700">
            <a:solidFill>
              <a:srgbClr val="14A3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338328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17373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issue type from the message using NLP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172200" y="1234440"/>
            <a:ext cx="411480" cy="411480"/>
          </a:xfrm>
          <a:prstGeom prst="ellipse">
            <a:avLst/>
          </a:prstGeom>
          <a:solidFill>
            <a:srgbClr val="14A3A0"/>
          </a:solidFill>
          <a:ln w="12700">
            <a:solidFill>
              <a:srgbClr val="14A3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617220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tickets to the responsible team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4688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94360" y="2606040"/>
            <a:ext cx="411480" cy="411480"/>
          </a:xfrm>
          <a:prstGeom prst="ellipse">
            <a:avLst/>
          </a:prstGeom>
          <a:solidFill>
            <a:srgbClr val="14A3A0"/>
          </a:solidFill>
          <a:ln w="12700">
            <a:solidFill>
              <a:srgbClr val="14A3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594360" y="2606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31089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BERT embeddings with TF-IDF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46120" y="24688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383280" y="2606040"/>
            <a:ext cx="411480" cy="411480"/>
          </a:xfrm>
          <a:prstGeom prst="ellipse">
            <a:avLst/>
          </a:prstGeom>
          <a:solidFill>
            <a:srgbClr val="14A3A0"/>
          </a:solidFill>
          <a:ln w="12700">
            <a:solidFill>
              <a:srgbClr val="14A3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3383280" y="2606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383280" y="31089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ticket resolution time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035040" y="24688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172200" y="2606040"/>
            <a:ext cx="411480" cy="411480"/>
          </a:xfrm>
          <a:prstGeom prst="ellipse">
            <a:avLst/>
          </a:prstGeom>
          <a:solidFill>
            <a:srgbClr val="14A3A0"/>
          </a:solidFill>
          <a:ln w="12700">
            <a:solidFill>
              <a:srgbClr val="14A3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6172200" y="2606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172200" y="31089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unusual days in volume, resolution time and reopen rate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393192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640080" y="39319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change: priority assignment was removed from the original proposal because the dataset has no priority labels. A Streamlit dashboard presents all results.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Data: 100,000 IT Support Tickets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94360" y="11247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A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100,000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554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(synthetic dataset)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05156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2697480" y="11247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A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697480" y="1554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per ticket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05156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4800600" y="11247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A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1,460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1554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days: Jan 2022 to Dec 2025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66560" y="105156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6903720" y="11247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1554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message templates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5394960" cy="201168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ticket_id, customer_id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created_at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Categorical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customer_segment, channel, product_area, issue_type, status, sla_plan, customer_sentiment, platform, region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initial_message, agent_first_reply, resolution_summary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resolution_time_hours, reopened, csat_score, has_attachment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6126480" y="2194560"/>
            <a:ext cx="2560320" cy="2240280"/>
          </a:xfrm>
          <a:prstGeom prst="roundRect">
            <a:avLst>
              <a:gd name="adj" fmla="val 3265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6309360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TARGETS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2697480"/>
            <a:ext cx="2194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issue_type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classes: issue classification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product_area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classes: team routing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resolution_time_hours</a:t>
            </a:r>
            <a:endParaRPr lang="en-US" sz="11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Cleaning &amp; Preparation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5394960" cy="3072384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 / 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 IDs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found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resolution times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found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CSAT or 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found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CSAT = 0 (29.9%)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Means "not rated": set to missing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region (19,997)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Filled with "Unknown"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resolution summary (39,887)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Filled with "Pending"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resolution time (39,887)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Kept: open, in-progress or on-hold tickets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126480" y="1097280"/>
            <a:ext cx="25603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3"/>
          <p:cNvSpPr txBox="1"/>
          <p:nvPr/>
        </p:nvSpPr>
        <p:spPr>
          <a:xfrm>
            <a:off x="6263640" y="1170432"/>
            <a:ext cx="228600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6,108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1826514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resolution-time outliers (over 106.83 h) kept as genuine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26480" y="260604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6309360" y="2724912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added</a:t>
            </a:r>
            <a:endParaRPr lang="en-US" sz="11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Hour, day of week, message length, word count, ? and ! flags, tickets per customer; 51 columns after one-hot encoding.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EDA: Tickets Are Evenly Distributed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12064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/home/claude/img/f-0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542646"/>
            <a:ext cx="4846320" cy="240110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52160" y="109728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types balanced: 12,349 to 12,739 tickets each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areas balanced: 14,099 to 14,432 each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peak hours or weekdays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Sentiment: 33% neutral, 26% negative, 9% very positive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5% of tickets reopened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class balancing needed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EDA: Resolution Time Has Little Signal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75488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/home/claude/img/f-0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504457"/>
            <a:ext cx="4480560" cy="247748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0" y="1097280"/>
            <a:ext cx="1508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5623560" y="1170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A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~30 h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623560" y="165049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for every issue type, segment, region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178040" y="1097280"/>
            <a:ext cx="1508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7315200" y="1170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 h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0" y="165049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without action vs 23.5 h resolved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0" y="2286000"/>
            <a:ext cx="3200400" cy="2103120"/>
          </a:xfrm>
          <a:prstGeom prst="roundRect">
            <a:avLst>
              <a:gd name="adj" fmla="val 3478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5669280" y="24231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0" y="278892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is the only strong driver of resolution time, and it is only known after closure. Ticket attributes carry almost no signal.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Approach: From Raw Tickets to Insights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517904" cy="2286000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4360" y="1234440"/>
            <a:ext cx="411480" cy="411480"/>
          </a:xfrm>
          <a:prstGeom prst="ellipse">
            <a:avLst/>
          </a:prstGeom>
          <a:solidFill>
            <a:srgbClr val="14A3A0"/>
          </a:solidFill>
          <a:ln w="12700">
            <a:solidFill>
              <a:srgbClr val="14A3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59436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7830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explore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28600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checks, missing values, outliers and EDA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35124" y="1097280"/>
            <a:ext cx="1517904" cy="2286000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272284" y="1234440"/>
            <a:ext cx="411480" cy="411480"/>
          </a:xfrm>
          <a:prstGeom prst="ellipse">
            <a:avLst/>
          </a:prstGeom>
          <a:solidFill>
            <a:srgbClr val="14A3A0"/>
          </a:solidFill>
          <a:ln w="12700">
            <a:solidFill>
              <a:srgbClr val="14A3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2272284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272284" y="17830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features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272284" y="228600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Time, message and customer features; one-hot encoding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813048" y="1097280"/>
            <a:ext cx="1517904" cy="2286000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950208" y="1234440"/>
            <a:ext cx="411480" cy="411480"/>
          </a:xfrm>
          <a:prstGeom prst="ellipse">
            <a:avLst/>
          </a:prstGeom>
          <a:solidFill>
            <a:srgbClr val="14A3A0"/>
          </a:solidFill>
          <a:ln w="12700">
            <a:solidFill>
              <a:srgbClr val="14A3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3950208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950208" y="17830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text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950208" y="228600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NLTK cleaning, then TF-IDF unigrams and bigrams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90972" y="1097280"/>
            <a:ext cx="1517904" cy="2286000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628132" y="1234440"/>
            <a:ext cx="411480" cy="411480"/>
          </a:xfrm>
          <a:prstGeom prst="ellipse">
            <a:avLst/>
          </a:prstGeom>
          <a:solidFill>
            <a:srgbClr val="14A3A0"/>
          </a:solidFill>
          <a:ln w="12700">
            <a:solidFill>
              <a:srgbClr val="14A3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5628132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628132" y="17830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&amp; validate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628132" y="228600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models per task with grouped splits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168896" y="1097280"/>
            <a:ext cx="1517904" cy="2286000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306056" y="1234440"/>
            <a:ext cx="411480" cy="411480"/>
          </a:xfrm>
          <a:prstGeom prst="ellipse">
            <a:avLst/>
          </a:prstGeom>
          <a:solidFill>
            <a:srgbClr val="14A3A0"/>
          </a:solidFill>
          <a:ln w="12700">
            <a:solidFill>
              <a:srgbClr val="14A3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7306056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306056" y="17830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306056" y="228600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dashboard with live classification and routing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 txBox="1"/>
          <p:nvPr/>
        </p:nvSpPr>
        <p:spPr>
          <a:xfrm>
            <a:off x="685800" y="36576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 prevention: routing uses only fields known when a ticket opens. Status, CSAT and reopen data were removed from the resolution-time model. Agent replies were excluded from classification.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We Tried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2194560" cy="621792"/>
          </a:xfrm>
          <a:prstGeom prst="roundRect">
            <a:avLst>
              <a:gd name="adj" fmla="val 11765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594360" y="1051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type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88920" y="1051560"/>
            <a:ext cx="58978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2926080" y="1051560"/>
            <a:ext cx="5623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Random Forest (500 trees); TF-IDF + Logistic Regression as a grouped-split check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64792"/>
            <a:ext cx="2194560" cy="621792"/>
          </a:xfrm>
          <a:prstGeom prst="roundRect">
            <a:avLst>
              <a:gd name="adj" fmla="val 11765"/>
            </a:avLst>
          </a:prstGeom>
          <a:solidFill>
            <a:srgbClr val="14A3A0"/>
          </a:solidFill>
          <a:ln w="12700">
            <a:solidFill>
              <a:srgbClr val="14A3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594360" y="1764792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routing (7 teams)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88920" y="1764792"/>
            <a:ext cx="58978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2926080" y="1764792"/>
            <a:ext cx="5623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Regression, LinearSVC, Random Forest: text only and text + metadata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478024"/>
            <a:ext cx="2194560" cy="621792"/>
          </a:xfrm>
          <a:prstGeom prst="roundRect">
            <a:avLst>
              <a:gd name="adj" fmla="val 11765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594360" y="247802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representation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788920" y="2478024"/>
            <a:ext cx="58978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2926080" y="2478024"/>
            <a:ext cx="5623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vs pre-trained Sentence-BERT (all-MiniLM-L6-v2), both with Logistic Regression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91256"/>
            <a:ext cx="2194560" cy="621792"/>
          </a:xfrm>
          <a:prstGeom prst="roundRect">
            <a:avLst>
              <a:gd name="adj" fmla="val 11765"/>
            </a:avLst>
          </a:prstGeom>
          <a:solidFill>
            <a:srgbClr val="14A3A0"/>
          </a:solidFill>
          <a:ln w="12700">
            <a:solidFill>
              <a:srgbClr val="14A3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594360" y="3191256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time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788920" y="3191256"/>
            <a:ext cx="58978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2926080" y="3191256"/>
            <a:ext cx="5623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Boosting, HistGB, CatBoost, LightGBM, XGBoost, Random Forest, MLP, tuned LightGBM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904488"/>
            <a:ext cx="2194560" cy="621792"/>
          </a:xfrm>
          <a:prstGeom prst="roundRect">
            <a:avLst>
              <a:gd name="adj" fmla="val 11765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594360" y="3904488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788920" y="3904488"/>
            <a:ext cx="58978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2926080" y="3904488"/>
            <a:ext cx="5623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and Local Outlier Factor on daily volume, resolution time, reopen rate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Issue Classification: 100% Is Misleading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097280"/>
          <a:ext cx="420624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4937760" y="1097280"/>
            <a:ext cx="37490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5120640" y="1234440"/>
            <a:ext cx="338328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gap?</a:t>
            </a:r>
            <a:endParaRPr lang="en-US" sz="12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100,000 messages come from only 96 templates, each tied to one issue type.</a:t>
            </a:r>
            <a:endParaRPr lang="en-US" sz="12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random split lets the Random Forest memorize them (100% accuracy).</a:t>
            </a:r>
            <a:endParaRPr lang="en-US" sz="12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unseen messages, 5-fold GroupKFold gives Macro F1 0.605 ± 0.107: the realistic estimate.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Routing: Model Comparison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097280"/>
          <a:ext cx="512064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852160" y="1097280"/>
            <a:ext cx="28346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5989320" y="117043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A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57.4%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989320" y="1549908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vs 14.4% baseline (4x better)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852160" y="2057400"/>
            <a:ext cx="28346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5989320" y="213055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71.6%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5989320" y="2510028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team in top-3 suggestions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852160" y="3017520"/>
            <a:ext cx="28346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5989320" y="309067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A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0.516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5989320" y="3470148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on unseen messages (± 0.112)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852160" y="3977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added nothing; generic messages fit several teams.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BERT vs TF-IDF: No Clear Winner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097280"/>
          <a:ext cx="530352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035040" y="1097280"/>
            <a:ext cx="2651760" cy="3383280"/>
          </a:xfrm>
          <a:prstGeom prst="roundRect">
            <a:avLst>
              <a:gd name="adj" fmla="val 2759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6217920" y="123444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not supported</a:t>
            </a:r>
            <a:endParaRPr lang="en-US" sz="12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 BERT matched TF-IDF, and scored slightly lower for routing.</a:t>
            </a:r>
            <a:endParaRPr lang="en-US" sz="12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are short, templated and keyword-driven, so context adds little. BERT is expected to matter more on real, varied text.</a:t>
            </a:r>
            <a:endParaRPr lang="en-US" sz="12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5FF7472F-3852-9BEC-945E-C235B06B8906}"/>
              </a:ext>
            </a:extLst>
          </p:cNvPr>
          <p:cNvSpPr txBox="1"/>
          <p:nvPr/>
        </p:nvSpPr>
        <p:spPr>
          <a:xfrm>
            <a:off x="457200" y="44119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Unseen scores here come from a single split and may vary by several points. The 5-fold results (0.605 and 0.516) are more reliable.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Resolution Time: Models Tie the Baseline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2266972865"/>
              </p:ext>
            </p:extLst>
          </p:nvPr>
        </p:nvGraphicFramePr>
        <p:xfrm>
          <a:off x="502920" y="960120"/>
          <a:ext cx="539496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852160" y="109728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6035040" y="1234440"/>
            <a:ext cx="2468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nothing beats the median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information of every feature is below 0.008.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LightGBM: MAE 15.166, still equal to baseline(15.170).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R² of 0.58 came from status, and 1.00 from a leaked target copy. Both were fixed.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Anomaly Detection: Finding Unusual Days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/home/claude/img/f-0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5794" y="1097280"/>
            <a:ext cx="6052411" cy="2240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356616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594360" y="36393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A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4069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anomalous days per model (5%)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560320" y="356616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2697480" y="36393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A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069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by both models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663440" y="356616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4800600" y="36393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/ 10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4800600" y="4069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surges detected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766560" y="356616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6903720" y="36393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A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6903720" y="4069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spikes (z ≥ 3) to alert on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Models &amp; Why We Chose Them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4479625"/>
              </p:ext>
            </p:extLst>
          </p:nvPr>
        </p:nvGraphicFramePr>
        <p:xfrm>
          <a:off x="457200" y="1097280"/>
          <a:ext cx="8229600" cy="315468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Selected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Random Forest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on random split; realistic score is Macro F1 0.605 ± 0.107 on unseen text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routing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+ Logistic Regression (text)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Macro F1 (0.580) and simplest; metadata added nothing; top-3 accuracy 71.6%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representation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Equal or better than BERT at lower cost on short templated messages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Resolution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Boosting (MAE loss)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Optimizes MAE directly; matches the 15.2 h baseline, which no model beat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Anomaly detection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Isolation Forest + LOF agreement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high-confidence days; caught 10 of 10 injected surges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Interactive Dashboard for Managers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Overview: KPIs, tickets by team, issue type, hour and status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&amp; Route: type a message, get the issue type and top-3 teams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Monitor: choose method, see flagged days and spiking issue types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Performance: comparisons and key findings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Streamlit and Plotly; runs without retraining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023360" y="1097280"/>
            <a:ext cx="4663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img/f-0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223791"/>
            <a:ext cx="4389120" cy="313025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&amp; Insights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640080" y="123444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4A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0.605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2057400" y="1280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classification score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057400" y="1664208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splits exposed the template memorization behind 100% accuracy.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846320" y="123444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71.6%</a:t>
            </a:r>
            <a:endParaRPr lang="en-US" sz="23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280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that helps agents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64208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team appears in the top-3 list; generic messages cap accuracy.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40080" y="297180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4A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15.2 h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2057400" y="3017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time not predictable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057400" y="3401568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prediction error (MAE), same as the median baseline.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283464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4846320" y="297180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days</a:t>
            </a:r>
            <a:endParaRPr lang="en-US" sz="23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3017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anomaly alerts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3401568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agree; only 12 strong spikes merit alerts.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Next Steps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321040" y="4754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02336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64008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9164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with mostly uniform distributions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96 unique messages; unstable on unseen text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priority labels, so priority was dropped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messages cap routing accuracy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counts depend on the fixed 5% threshold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097280"/>
            <a:ext cx="4023360" cy="3383280"/>
          </a:xfrm>
          <a:prstGeom prst="roundRect">
            <a:avLst>
              <a:gd name="adj" fmla="val 2162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484632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169164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pipeline on real, varied ticket data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BERT once enough diverse text exists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workload and agent features for resolution time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dashboard and connect live ticket data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Conclusion: Main Takeaways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548640" cy="548640"/>
          </a:xfrm>
          <a:prstGeom prst="ellipse">
            <a:avLst/>
          </a:prstGeom>
          <a:solidFill>
            <a:srgbClr val="14A3A0"/>
          </a:solidFill>
          <a:ln w="12700">
            <a:solidFill>
              <a:srgbClr val="14A3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18872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end-to-end pipeline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0020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Cleaning, EDA, NLP classification, routing, resolution time, anomaly detection and a dashboard.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548640" cy="548640"/>
          </a:xfrm>
          <a:prstGeom prst="ellipse">
            <a:avLst/>
          </a:prstGeom>
          <a:solidFill>
            <a:srgbClr val="14A3A0"/>
          </a:solidFill>
          <a:ln w="12700">
            <a:solidFill>
              <a:srgbClr val="14A3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28600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was the key outcome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6974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splits, leakage checks and injected surges kept every result honest.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548640" cy="548640"/>
          </a:xfrm>
          <a:prstGeom prst="ellipse">
            <a:avLst/>
          </a:prstGeom>
          <a:solidFill>
            <a:srgbClr val="14A3A0"/>
          </a:solidFill>
          <a:ln w="12700">
            <a:solidFill>
              <a:srgbClr val="14A3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457200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38328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Practical value and next step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79476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(top-3 for 71.6%) and anomaly alerts are useful now; real ticket data is the next step.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457200" y="155448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651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?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6995a784-872d-4a20-9d1b-893979508fdf}" enabled="1" method="Privileged" siteId="{e26bab4b-97e6-4754-b163-60f8237e853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1466</Words>
  <Application>Microsoft Macintosh PowerPoint</Application>
  <PresentationFormat>On-screen Show (16:9)</PresentationFormat>
  <Paragraphs>258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Alhanof Alobeed</cp:lastModifiedBy>
  <cp:revision>6</cp:revision>
  <dcterms:created xsi:type="dcterms:W3CDTF">2026-09-28T10:20:28Z</dcterms:created>
  <dcterms:modified xsi:type="dcterms:W3CDTF">2026-09-29T03:59:12Z</dcterms:modified>
</cp:coreProperties>
</file>