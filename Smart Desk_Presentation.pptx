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6" r:id="rId17"/>
    <p:sldId id="269" r:id="rId18"/>
    <p:sldId id="278" r:id="rId19"/>
    <p:sldId id="272" r:id="rId20"/>
    <p:sldId id="273" r:id="rId21"/>
    <p:sldId id="274" r:id="rId22"/>
    <p:sldId id="275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43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F2A43"/>
                </a:solidFill>
                <a:latin typeface="Calibri"/>
              </a:rPr>
              <a:t>Issue type: Macro F1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14A3A0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D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Random split</c:v>
                </c:pt>
                <c:pt idx="1">
                  <c:v>Unseen messages (5-fold)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0.60499999999999998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80-4094-BB3F-47624542F7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D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DDE3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43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F2A43"/>
                </a:solidFill>
                <a:latin typeface="Calibri"/>
              </a:rPr>
              <a:t>Macro F1 by model (20,000 test tickets)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14A3A0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D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Baseline (most frequent)</c:v>
                </c:pt>
                <c:pt idx="1">
                  <c:v>Random Forest (text + meta)</c:v>
                </c:pt>
                <c:pt idx="2">
                  <c:v>LogReg (text + meta)</c:v>
                </c:pt>
                <c:pt idx="3">
                  <c:v>LinearSVC (text + meta)</c:v>
                </c:pt>
                <c:pt idx="4">
                  <c:v>LogReg (text)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3.5999999999999997E-2</c:v>
                </c:pt>
                <c:pt idx="1">
                  <c:v>0.57399999999999995</c:v>
                </c:pt>
                <c:pt idx="2">
                  <c:v>0.57499999999999996</c:v>
                </c:pt>
                <c:pt idx="3">
                  <c:v>0.57499999999999996</c:v>
                </c:pt>
                <c:pt idx="4">
                  <c:v>0.57999999999999996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F9-4F06-8A34-282146EF3B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D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  <c:min val="0"/>
        </c:scaling>
        <c:delete val="0"/>
        <c:axPos val="b"/>
        <c:majorGridlines>
          <c:spPr>
            <a:ln w="6350" cap="flat">
              <a:solidFill>
                <a:srgbClr val="DDE3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43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F2A43"/>
                </a:solidFill>
                <a:latin typeface="Calibri"/>
              </a:rPr>
              <a:t>Macro F1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TF-IDF + LogReg</c:v>
                </c:pt>
              </c:strCache>
            </c:strRef>
          </c:tx>
          <c:spPr>
            <a:solidFill>
              <a:srgbClr val="14A3A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D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Issue type: random</c:v>
                </c:pt>
                <c:pt idx="1">
                  <c:v>Issue type: unseen</c:v>
                </c:pt>
                <c:pt idx="2">
                  <c:v>Routing: random</c:v>
                </c:pt>
                <c:pt idx="3">
                  <c:v>Routing: unseen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0.629</c:v>
                </c:pt>
                <c:pt idx="2">
                  <c:v>0.59</c:v>
                </c:pt>
                <c:pt idx="3">
                  <c:v>0.66200000000000003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C8-4021-A3BD-95700200AA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BERT + LogReg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D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Issue type: random</c:v>
                </c:pt>
                <c:pt idx="1">
                  <c:v>Issue type: unseen</c:v>
                </c:pt>
                <c:pt idx="2">
                  <c:v>Routing: random</c:v>
                </c:pt>
                <c:pt idx="3">
                  <c:v>Routing: unseen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0.629</c:v>
                </c:pt>
                <c:pt idx="2">
                  <c:v>0.57999999999999996</c:v>
                </c:pt>
                <c:pt idx="3">
                  <c:v>0.63400000000000001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C8-4021-A3BD-95700200AA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D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DDE3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D3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43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F2A43"/>
                </a:solidFill>
                <a:latin typeface="Calibri"/>
              </a:rPr>
              <a:t>Test MAE (hours), lower is better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(hours)</c:v>
                </c:pt>
              </c:strCache>
            </c:strRef>
          </c:tx>
          <c:spPr>
            <a:solidFill>
              <a:srgbClr val="0F2A43"/>
            </a:solidFill>
            <a:effectLst/>
          </c:spPr>
          <c:invertIfNegative val="0"/>
          <c:dLbls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15.27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3AD-B049-BA1D-A1101893EBFC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dirty="0"/>
                      <a:t>15.17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8C9-4F04-B7D0-4E9253368EF9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D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Random Forest (default)</c:v>
                </c:pt>
                <c:pt idx="1">
                  <c:v>Neural Network (MLP)</c:v>
                </c:pt>
                <c:pt idx="2">
                  <c:v>Random Forest (log)</c:v>
                </c:pt>
                <c:pt idx="3">
                  <c:v>XGBoost</c:v>
                </c:pt>
                <c:pt idx="4">
                  <c:v>LightGBM</c:v>
                </c:pt>
                <c:pt idx="5">
                  <c:v>CatBoost</c:v>
                </c:pt>
                <c:pt idx="6">
                  <c:v>Gradient Boosting</c:v>
                </c:pt>
                <c:pt idx="7">
                  <c:v>HistGradientBoosting</c:v>
                </c:pt>
                <c:pt idx="8">
                  <c:v>Baseline (median)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15.75</c:v>
                </c:pt>
                <c:pt idx="1">
                  <c:v>15.5</c:v>
                </c:pt>
                <c:pt idx="2">
                  <c:v>15.31</c:v>
                </c:pt>
                <c:pt idx="3">
                  <c:v>15.27</c:v>
                </c:pt>
                <c:pt idx="4">
                  <c:v>15.26</c:v>
                </c:pt>
                <c:pt idx="5">
                  <c:v>15.21</c:v>
                </c:pt>
                <c:pt idx="6">
                  <c:v>15.18</c:v>
                </c:pt>
                <c:pt idx="7">
                  <c:v>15.18</c:v>
                </c:pt>
                <c:pt idx="8">
                  <c:v>15.17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A8-46E8-829A-0D4693EE92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D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9"/>
          <c:min val="0"/>
        </c:scaling>
        <c:delete val="0"/>
        <c:axPos val="b"/>
        <c:majorGridlines>
          <c:spPr>
            <a:ln w="6350" cap="flat">
              <a:solidFill>
                <a:srgbClr val="DDE3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158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3B950-740D-4E9B-2B0B-126ECABD9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463E9C-D628-3338-D28D-C8EDBAFF3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9D6233-10FA-A399-2FE1-8ED3AE58D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721CF-8AB5-6884-F158-173994EFD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04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F5195-A502-1665-BB0A-074224B79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72D0B3-9FE7-5A09-D535-D1AE73F1C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0F091-CE0D-D5C8-45C5-9191E76CF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71C95-0D98-0684-65DD-618394F1A1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974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tmp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457200" y="1508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DESK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3317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System for Automated IT Support Ticket Analysis, NLP Classification, Team Routing, Resolution Time Prediction, and Anomaly Detection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Alhanouf Abdullah Alobaid  ·  Sara Mohammed Alshahrani  ·  Raghad Suliman Albalawi  ·  Wojood Turki Almalki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Digital Academy  ·  WCD Data Science Bootcamp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89888"/>
            <a:ext cx="457200" cy="457200"/>
          </a:xfrm>
          <a:prstGeom prst="ellipse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2801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sorting is slow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6002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IT tickets must be classified and routed by hand.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4231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are delayed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7432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wait while tickets sit in the wrong queue.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3675888"/>
            <a:ext cx="457200" cy="457200"/>
          </a:xfrm>
          <a:prstGeom prst="ellipse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5661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 get breached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8862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or misrouted tickets break service-level agreements.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94960" y="1143000"/>
            <a:ext cx="3291840" cy="3246120"/>
          </a:xfrm>
          <a:prstGeom prst="roundRect">
            <a:avLst>
              <a:gd name="adj" fmla="val 2254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62356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169164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organizations use NLP to classify issues, route tickets to the right team, predict resolution times, and detect anomalous ticket surges before they disrupt business?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411480" cy="411480"/>
          </a:xfrm>
          <a:prstGeom prst="ellipse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analyze historical ticket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411480" cy="411480"/>
          </a:xfrm>
          <a:prstGeom prst="ellipse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832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issue type from the message using NLP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72200" y="1234440"/>
            <a:ext cx="411480" cy="411480"/>
          </a:xfrm>
          <a:prstGeom prst="ellipse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17220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tickets to the responsible team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2606040"/>
            <a:ext cx="411480" cy="411480"/>
          </a:xfrm>
          <a:prstGeom prst="ellipse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9436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108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BERT embeddings with TF-IDF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24688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383280" y="2606040"/>
            <a:ext cx="411480" cy="411480"/>
          </a:xfrm>
          <a:prstGeom prst="ellipse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3832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3108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ticket resolution time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24688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72200" y="2606040"/>
            <a:ext cx="411480" cy="411480"/>
          </a:xfrm>
          <a:prstGeom prst="ellipse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1722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108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unusual days in volume, resolution time and reopen rate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change: priority assignment was removed from the original proposal because the dataset has no priority labels. A Streamlit dashboard presents all results.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Data: 100,000 IT Support Tickets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1247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(synthetic dataset)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0515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697480" y="11247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per ticket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800600" y="11247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1,460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days: Jan 2022 to Dec 2025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0515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903720" y="11247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message templates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5394960" cy="20116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ticket_id, customer_id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customer_segment, channel, product_area, issue_type, status, sla_plan, customer_sentiment, platform, region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initial_message, agent_first_reply, resolution_summary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resolution_time_hours, reopened, csat_score, has_attachment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6126480" y="219456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30936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TARGETS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269748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issue_type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classes: issue classification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product_area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classes: team routing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resolution_time_hours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394960" cy="307238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/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IDs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found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resolution times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found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CSAT or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found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CSAT = 0 (29.9%)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Means "not rated": set to missing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region (19,997)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with "Unknown"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resolution summary (39,887)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with "Pending"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resolution time (39,887)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Kept: open, in-progress or on-hold tickets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09728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3"/>
          <p:cNvSpPr txBox="1"/>
          <p:nvPr/>
        </p:nvSpPr>
        <p:spPr>
          <a:xfrm>
            <a:off x="6263640" y="1170432"/>
            <a:ext cx="2286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6,108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82651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resolution-time outliers (over 106.83 h) kept as genuine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26480" y="260604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309360" y="2724912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added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day of week, message length, word count, ? and ! flags, tickets per customer; 51 columns after one-hot encoding.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Tickets Are Evenly Distributed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mg/f-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42646"/>
            <a:ext cx="4846320" cy="24011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52160" y="109728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types balanced: 12,349 to 12,739 tickets each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areas balanced: 14,099 to 14,432 each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peak hours or weekdays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Sentiment: 33% neutral, 26% negative, 9% very positive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5% of tickets reopened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 balancing needed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Resolution Time Has Little Signal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7548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mg/f-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4457"/>
            <a:ext cx="4480560" cy="24774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0" y="10972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623560" y="1170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h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165049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for every issue type, segment, region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178040" y="10972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315200" y="1170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 h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165049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without action vs 23.5 h resolved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0" y="228600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669280" y="2423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2788920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is the only strong driver of resolution time, and it is only known after closure. Ticket attributes carry almost no signal.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Approach: From Raw Tickets to Insights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517904" cy="22860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411480" cy="411480"/>
          </a:xfrm>
          <a:prstGeom prst="ellipse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explore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860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checks, missing values, outliers and EDA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35124" y="1097280"/>
            <a:ext cx="1517904" cy="22860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72284" y="1234440"/>
            <a:ext cx="411480" cy="411480"/>
          </a:xfrm>
          <a:prstGeom prst="ellipse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272284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72284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72284" y="22860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message and customer features; one-hot encoding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13048" y="1097280"/>
            <a:ext cx="1517904" cy="22860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950208" y="1234440"/>
            <a:ext cx="411480" cy="411480"/>
          </a:xfrm>
          <a:prstGeom prst="ellipse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950208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950208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text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50208" y="22860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cleaning, then TF-IDF unigrams and bigrams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90972" y="1097280"/>
            <a:ext cx="1517904" cy="22860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28132" y="1234440"/>
            <a:ext cx="411480" cy="411480"/>
          </a:xfrm>
          <a:prstGeom prst="ellipse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628132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28132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validate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28132" y="22860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per task with grouped splits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68896" y="1097280"/>
            <a:ext cx="1517904" cy="22860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06056" y="1234440"/>
            <a:ext cx="411480" cy="411480"/>
          </a:xfrm>
          <a:prstGeom prst="ellipse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306056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306056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06056" y="22860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with live classification and routing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85800" y="36576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prevention: routing uses only fields known when a ticket opens. Status, CSAT and reopen data were removed from the resolution-time model. Agent replies were excluded from classification.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We Tried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05156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type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88920" y="1051560"/>
            <a:ext cx="58978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926080" y="1051560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Random Forest (500 trees); TF-IDF + Logistic Regression as a grouped-split check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176479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routing (7 teams)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88920" y="1764792"/>
            <a:ext cx="58978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926080" y="1764792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LinearSVC, Random Forest: text only and text + metadata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24780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representation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88920" y="2478024"/>
            <a:ext cx="58978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926080" y="2478024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vs pre-trained Sentence-BERT (all-MiniLM-L6-v2), both with Logistic Regression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3191256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88920" y="3191256"/>
            <a:ext cx="58978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2926080" y="3191256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Boosting, HistGB, CatBoost, LightGBM, XGBoost, Random Forest, MLP, tuned LightGBM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04488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94360" y="390448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88920" y="3904488"/>
            <a:ext cx="58978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2926080" y="3904488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and Local Outlier Factor on daily volume, resolution time, reopen rate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Classification: 100% Is Misleading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42062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1097280"/>
            <a:ext cx="37490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120640" y="1234440"/>
            <a:ext cx="33832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gap?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100,000 messages come from only 96 templates, each tied to one issue type.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split lets the Random Forest memorize them (100% accuracy).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unseen messages, 5-fold GroupKFold gives Macro F1 0.605 ± 0.107: the realistic estimate.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Routing: Model Comparison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9728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989320" y="11704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57.4%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54990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 14.4% baseline (4x better)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52160" y="205740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5989320" y="21305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71.6%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25100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team in top-3 suggestions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301752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989320" y="30906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0.516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34701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on unseen messages (± 0.112)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3977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added nothing; generic messages fit several teams.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 vs TF-IDF: No Clear Winner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9728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217920" y="1234440"/>
            <a:ext cx="2286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not supported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BERT matched TF-IDF, and scored slightly lower for routing.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short, templated and keyword-driven, so context adds little. BERT is expected to matter more on real, varied text.</a:t>
            </a:r>
            <a:endParaRPr lang="en-US" sz="12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FF7472F-3852-9BEC-945E-C235B06B8906}"/>
              </a:ext>
            </a:extLst>
          </p:cNvPr>
          <p:cNvSpPr txBox="1"/>
          <p:nvPr/>
        </p:nvSpPr>
        <p:spPr>
          <a:xfrm>
            <a:off x="457200" y="44119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scores here come from a single split and may vary by several points. The 5-fold results (0.605 and 0.516) are more reliable.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Time: Models Tie the Baseline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266972865"/>
              </p:ext>
            </p:extLst>
          </p:nvPr>
        </p:nvGraphicFramePr>
        <p:xfrm>
          <a:off x="502920" y="96012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97280"/>
            <a:ext cx="2834640" cy="33832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035040" y="123444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nothing beats the median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 of every feature is below 0.008.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LightGBM: MAE 15.166, still equal to baseline(15.170).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R² of 0.58 came from status, and 1.00 from a leaked target copy. Both were fixed.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Models &amp; Why We Chose Them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479625"/>
              </p:ext>
            </p:extLst>
          </p:nvPr>
        </p:nvGraphicFramePr>
        <p:xfrm>
          <a:off x="457200" y="1097280"/>
          <a:ext cx="8229600" cy="31546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on random split; realistic score is Macro F1 0.605 ± 0.107 on unseen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routing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Logistic Regression (text)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Macro F1 (0.580) and simplest; metadata added nothing; top-3 accuracy 71.6%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representation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or better than BERT at lower cost on short templated messages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(MAE loss)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Optimizes MAE directly; matches the 15.2 h baseline, which no model beat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 + LOF agreement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high-confidence days; caught 10 of 10 injected surges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3">
            <a:extLst>
              <a:ext uri="{FF2B5EF4-FFF2-40B4-BE49-F238E27FC236}">
                <a16:creationId xmlns:a16="http://schemas.microsoft.com/office/drawing/2014/main" id="{38E6FA5C-95F4-946A-B5B3-23B7688CA5D2}"/>
              </a:ext>
            </a:extLst>
          </p:cNvPr>
          <p:cNvSpPr/>
          <p:nvPr/>
        </p:nvSpPr>
        <p:spPr>
          <a:xfrm>
            <a:off x="763077" y="1361635"/>
            <a:ext cx="7617846" cy="3645938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 txBox="1"/>
          <p:nvPr/>
        </p:nvSpPr>
        <p:spPr>
          <a:xfrm>
            <a:off x="363415" y="34583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14" name="صورة 13">
            <a:extLst>
              <a:ext uri="{FF2B5EF4-FFF2-40B4-BE49-F238E27FC236}">
                <a16:creationId xmlns:a16="http://schemas.microsoft.com/office/drawing/2014/main" id="{667E5CD4-3AD8-9A94-FD2A-D97D87386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03286"/>
            <a:ext cx="3590384" cy="2457395"/>
          </a:xfrm>
          <a:prstGeom prst="rect">
            <a:avLst/>
          </a:prstGeom>
        </p:spPr>
      </p:pic>
      <p:pic>
        <p:nvPicPr>
          <p:cNvPr id="16" name="صورة 15">
            <a:extLst>
              <a:ext uri="{FF2B5EF4-FFF2-40B4-BE49-F238E27FC236}">
                <a16:creationId xmlns:a16="http://schemas.microsoft.com/office/drawing/2014/main" id="{FD78152F-99B9-1F0B-FDE6-92D8FD310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116" y="2515186"/>
            <a:ext cx="3677924" cy="2433597"/>
          </a:xfrm>
          <a:prstGeom prst="rect">
            <a:avLst/>
          </a:prstGeom>
        </p:spPr>
      </p:pic>
      <p:pic>
        <p:nvPicPr>
          <p:cNvPr id="18" name="صورة 17">
            <a:extLst>
              <a:ext uri="{FF2B5EF4-FFF2-40B4-BE49-F238E27FC236}">
                <a16:creationId xmlns:a16="http://schemas.microsoft.com/office/drawing/2014/main" id="{B893D8D9-928B-A883-7AFC-F7C4E01E32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738" y="1471236"/>
            <a:ext cx="6224954" cy="962361"/>
          </a:xfrm>
          <a:prstGeom prst="rect">
            <a:avLst/>
          </a:prstGeom>
        </p:spPr>
      </p:pic>
      <p:sp>
        <p:nvSpPr>
          <p:cNvPr id="20" name="مربع نص 19">
            <a:extLst>
              <a:ext uri="{FF2B5EF4-FFF2-40B4-BE49-F238E27FC236}">
                <a16:creationId xmlns:a16="http://schemas.microsoft.com/office/drawing/2014/main" id="{CCA322A4-9D33-4041-1419-D40C093676FA}"/>
              </a:ext>
            </a:extLst>
          </p:cNvPr>
          <p:cNvSpPr txBox="1"/>
          <p:nvPr/>
        </p:nvSpPr>
        <p:spPr>
          <a:xfrm>
            <a:off x="224690" y="674663"/>
            <a:ext cx="90599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r-SA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 </a:t>
            </a:r>
            <a:r>
              <a:rPr lang="ar-SA" sz="1600" i="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quick</a:t>
            </a:r>
            <a:r>
              <a:rPr lang="ar-SA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600" i="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snapshot</a:t>
            </a:r>
            <a:r>
              <a:rPr lang="ar-SA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600" i="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of</a:t>
            </a:r>
            <a:r>
              <a:rPr lang="ar-SA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100,000 </a:t>
            </a:r>
            <a:r>
              <a:rPr lang="ar-SA" sz="1600" i="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tickets</a:t>
            </a:r>
            <a:r>
              <a:rPr lang="ar-SA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2022-2025).</a:t>
            </a:r>
            <a:endParaRPr lang="ar-SA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SA" sz="1600" i="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Tickets</a:t>
            </a:r>
            <a:r>
              <a:rPr lang="ar-SA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600" i="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are</a:t>
            </a:r>
            <a:r>
              <a:rPr lang="ar-SA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600" i="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evenly</a:t>
            </a:r>
            <a:r>
              <a:rPr lang="ar-SA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600" i="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spread</a:t>
            </a:r>
            <a:r>
              <a:rPr lang="ar-SA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600" i="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across</a:t>
            </a:r>
            <a:r>
              <a:rPr lang="ar-SA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600" i="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all</a:t>
            </a:r>
            <a:r>
              <a:rPr lang="ar-SA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7 </a:t>
            </a:r>
            <a:r>
              <a:rPr lang="ar-SA" sz="1600" i="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teams</a:t>
            </a:r>
            <a:r>
              <a:rPr lang="ar-SA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600" i="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and</a:t>
            </a:r>
            <a:r>
              <a:rPr lang="ar-SA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8 </a:t>
            </a:r>
            <a:r>
              <a:rPr lang="ar-SA" sz="1600" i="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issue</a:t>
            </a:r>
            <a:r>
              <a:rPr lang="ar-SA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600" i="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types</a:t>
            </a:r>
            <a:r>
              <a:rPr lang="ar-SA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ar-SA" sz="1600" i="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with</a:t>
            </a:r>
            <a:r>
              <a:rPr lang="ar-SA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600" i="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no</a:t>
            </a:r>
            <a:r>
              <a:rPr lang="ar-SA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600" i="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single</a:t>
            </a:r>
            <a:r>
              <a:rPr lang="ar-SA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600" i="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area</a:t>
            </a:r>
            <a:r>
              <a:rPr lang="ar-SA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600" i="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overloaded</a:t>
            </a:r>
            <a:r>
              <a:rPr lang="ar-SA" sz="160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ar-SA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0720D5-8882-1CD7-51EC-44989A3B3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9B1A7F-39EF-FF92-7A65-53BA299FE4C3}"/>
              </a:ext>
            </a:extLst>
          </p:cNvPr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 for Managers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3AE50B-C2B2-6592-D437-97D409BFEF0D}"/>
              </a:ext>
            </a:extLst>
          </p:cNvPr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7E44FE-628F-75F3-9157-F3F2E6F812F5}"/>
              </a:ext>
            </a:extLst>
          </p:cNvPr>
          <p:cNvSpPr txBox="1"/>
          <p:nvPr/>
        </p:nvSpPr>
        <p:spPr>
          <a:xfrm>
            <a:off x="457200" y="1097280"/>
            <a:ext cx="3291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KPIs, tickets by team, issue type, hour and status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 Route: type a message, get the issue type and top-3 teams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Monitor: choose method, see flagged days and spiking issue types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Performance: comparisons and key findings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 and Plotly; runs without retraining</a:t>
            </a:r>
            <a:endParaRPr lang="en-US" sz="12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BD844F6-26F7-1A8D-EB99-19E9264F9287}"/>
              </a:ext>
            </a:extLst>
          </p:cNvPr>
          <p:cNvSpPr/>
          <p:nvPr/>
        </p:nvSpPr>
        <p:spPr>
          <a:xfrm>
            <a:off x="4023360" y="1097280"/>
            <a:ext cx="4663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mg/f-022.png">
            <a:extLst>
              <a:ext uri="{FF2B5EF4-FFF2-40B4-BE49-F238E27FC236}">
                <a16:creationId xmlns:a16="http://schemas.microsoft.com/office/drawing/2014/main" id="{8998B79E-9596-296A-FC96-83C01A64C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223791"/>
            <a:ext cx="4389120" cy="313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805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Detection: Finding Unusual Days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35661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94360" y="36393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4069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days per model (5%)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0" y="35661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697480" y="36393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069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by both models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35661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800600" y="36393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4069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surges detected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66560" y="35661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903720" y="36393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4069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spikes (z ≥ 3) to alert on</a:t>
            </a:r>
            <a:endParaRPr lang="en-US" sz="1100" dirty="0"/>
          </a:p>
        </p:txBody>
      </p:sp>
      <p:pic>
        <p:nvPicPr>
          <p:cNvPr id="19" name="صورة 18">
            <a:extLst>
              <a:ext uri="{FF2B5EF4-FFF2-40B4-BE49-F238E27FC236}">
                <a16:creationId xmlns:a16="http://schemas.microsoft.com/office/drawing/2014/main" id="{AE32F85A-74F4-3633-5BB9-5A859D192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99687"/>
            <a:ext cx="6583680" cy="210469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9622B4-AFF2-9774-6B10-E0DA792E4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3">
            <a:extLst>
              <a:ext uri="{FF2B5EF4-FFF2-40B4-BE49-F238E27FC236}">
                <a16:creationId xmlns:a16="http://schemas.microsoft.com/office/drawing/2014/main" id="{ED66C031-F022-240D-9D49-ABA48294ED8E}"/>
              </a:ext>
            </a:extLst>
          </p:cNvPr>
          <p:cNvSpPr/>
          <p:nvPr/>
        </p:nvSpPr>
        <p:spPr>
          <a:xfrm>
            <a:off x="253218" y="182879"/>
            <a:ext cx="8637563" cy="367932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3002CC-F9A0-B2DD-FAC1-92C1288ECA7A}"/>
              </a:ext>
            </a:extLst>
          </p:cNvPr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EC758D6-501C-3DEA-295A-C895F2F10AB0}"/>
              </a:ext>
            </a:extLst>
          </p:cNvPr>
          <p:cNvSpPr txBox="1"/>
          <p:nvPr/>
        </p:nvSpPr>
        <p:spPr>
          <a:xfrm>
            <a:off x="891814" y="3984404"/>
            <a:ext cx="6170710" cy="884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Slider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sets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minimum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spike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strength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(z-</a:t>
            </a: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score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ar-SA" sz="1400" dirty="0" err="1">
                <a:highlight>
                  <a:srgbClr val="C0C0C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At</a:t>
            </a:r>
            <a:r>
              <a:rPr lang="ar-SA" sz="1400" dirty="0">
                <a:highlight>
                  <a:srgbClr val="C0C0C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>
                <a:highlight>
                  <a:srgbClr val="C0C0C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z </a:t>
            </a:r>
            <a:r>
              <a:rPr lang="ar-SA" sz="1400" dirty="0">
                <a:highlight>
                  <a:srgbClr val="C0C0C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≥ </a:t>
            </a:r>
            <a:r>
              <a:rPr lang="en-US" sz="1400" dirty="0">
                <a:highlight>
                  <a:srgbClr val="C0C0C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3: 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12 </a:t>
            </a: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days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worth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alerting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on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"</a:t>
            </a: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other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" </a:t>
            </a: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and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account_access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spike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most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often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Tells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managers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not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just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when</a:t>
            </a:r>
            <a:r>
              <a:rPr lang="en-US" sz="1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ar-SA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but</a:t>
            </a:r>
            <a:r>
              <a:rPr lang="ar-S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ar-SA" sz="1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why</a:t>
            </a:r>
            <a:r>
              <a:rPr lang="ar-SA" sz="1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ar-SA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4E17E481-A701-48A6-B262-9A785C9FC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1487"/>
            <a:ext cx="7863840" cy="965171"/>
          </a:xfrm>
          <a:prstGeom prst="rect">
            <a:avLst/>
          </a:prstGeom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A1824487-9D6A-0FE0-E615-9BA82EC40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132" y="1345273"/>
            <a:ext cx="7495735" cy="239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53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Insights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2344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0.605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classification score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166420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splits exposed the template memorization behind 100% accuracy.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46320" y="12344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71.6%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that helps agents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6420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team appears in the top-3 list; generic messages cap accuracy.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29718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15.2 h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 not predictable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057400" y="34015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prediction error (MAE), same as the median baseline.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846320" y="29718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days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anomaly alerts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4015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agree; only 12 strong spikes merit alerts.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with mostly uniform distributions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96 unique messages; unstable on unseen text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priority labels, so priority was dropped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messages cap routing accuracy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counts depend on the fixed 5% threshold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8463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pipeline on real, varied ticket 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BERT once enough diverse text exists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workload and agent features for resolution time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dashboard and connect live ticket data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Conclusion: Main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887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 pipeline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002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EDA, NLP classification, routing, resolution time, anomaly detection and a dashboard.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72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860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was the key outcome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6974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splits, leakage checks and injected surges kept every result honest.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548640" cy="548640"/>
          </a:xfrm>
          <a:prstGeom prst="ellipse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3832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value and next step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7947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(top-3 for 71.6%) and anomaly alerts are useful now; real ticket data is the next step.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1554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995a784-872d-4a20-9d1b-893979508fdf}" enabled="1" method="Privileged" siteId="{e26bab4b-97e6-4754-b163-60f8237e853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1539</Words>
  <Application>Microsoft Office PowerPoint</Application>
  <PresentationFormat>عرض على الشاشة (16:9)</PresentationFormat>
  <Paragraphs>269</Paragraphs>
  <Slides>22</Slides>
  <Notes>22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Cambria Math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Sara Alshahrani</cp:lastModifiedBy>
  <cp:revision>8</cp:revision>
  <dcterms:created xsi:type="dcterms:W3CDTF">2026-09-28T10:20:28Z</dcterms:created>
  <dcterms:modified xsi:type="dcterms:W3CDTF">2026-09-29T20:05:21Z</dcterms:modified>
</cp:coreProperties>
</file>